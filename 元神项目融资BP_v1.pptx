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25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6C63FF"/>
                </a:solidFill>
                <a:latin typeface="Arial"/>
              </a:rPr>
              <a:t>META SOUL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FFFFF"/>
                </a:solidFill>
                <a:latin typeface="Arial"/>
              </a:rPr>
              <a:t>元神项目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160520"/>
            <a:ext cx="301752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A0A0B0"/>
                </a:solidFill>
                <a:latin typeface="Arial"/>
              </a:rPr>
              <a:t>让每个人都有一个比自己更好的自己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D4AA"/>
                </a:solidFill>
                <a:latin typeface="Arial"/>
              </a:rPr>
              <a:t>个人精神世界模型构建器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0B0"/>
                </a:solidFill>
                <a:latin typeface="Arial"/>
              </a:rPr>
              <a:t>融资计划书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4739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B0"/>
                </a:solidFill>
                <a:latin typeface="Arial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6C63FF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5400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3520440" cy="3931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" cy="39319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9047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C63FF"/>
                </a:solidFill>
                <a:latin typeface="Arial"/>
              </a:rPr>
              <a:t>数字足迹碎片化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01368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• 个人数据分散在微信/微博/小红书等平台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39112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• 无法形成完整的自我认知图谱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76856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• 平台割裂导致记忆断层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22392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C63FF"/>
                </a:solidFill>
                <a:latin typeface="Arial"/>
              </a:rPr>
              <a:t>P1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417320"/>
            <a:ext cx="3520440" cy="3931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417320"/>
            <a:ext cx="54864" cy="3931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9047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Arial"/>
              </a:rPr>
              <a:t>AI不理解'你'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801368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• 通用AI知道世界，但不知道你的故事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039112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• 无法理解你的偏好结构与价值观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276856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• 每个新对话都是陌生人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5422392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D4AA"/>
                </a:solidFill>
                <a:latin typeface="Arial"/>
              </a:rPr>
              <a:t>P2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417320"/>
            <a:ext cx="3520440" cy="3931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417320"/>
            <a:ext cx="54864" cy="393192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49047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C040"/>
                </a:solidFill>
                <a:latin typeface="Arial"/>
              </a:rPr>
              <a:t>关系被平台绑架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1801368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• 社交关系存储在平台，平台消失即消失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039112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• 用户对个人数据无主权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276856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• 数据价值被平台收割，用户零收益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422392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F0C040"/>
                </a:solidFill>
                <a:latin typeface="Arial"/>
              </a:rPr>
              <a:t>P3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739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  <a:latin typeface="Arial"/>
              </a:rPr>
              <a:t>元神项目 · 融资计划书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1672" y="64739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B0"/>
                </a:solidFill>
                <a:latin typeface="Arial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6C63FF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解决方案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5400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394960" cy="4846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C63FF"/>
                </a:solidFill>
                <a:latin typeface="Arial"/>
              </a:rPr>
              <a:t>核心价值主张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83664"/>
            <a:ext cx="5029200" cy="25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73152" cy="8229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0312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第一层：分身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7744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Arial"/>
              </a:rPr>
              <a:t>替你干活，让你自由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91840"/>
            <a:ext cx="73152" cy="8229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29184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第二层：高我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5661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Arial"/>
              </a:rPr>
              <a:t>比你更懂你，让你更强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80560"/>
            <a:ext cx="73152" cy="82296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480560"/>
            <a:ext cx="4846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第三层：元神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7548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Arial"/>
              </a:rPr>
              <a:t>与你合一，让你绽放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417320"/>
            <a:ext cx="5577840" cy="4846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5361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Arial"/>
              </a:rPr>
              <a:t>一句话定位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9659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"让AI理解你的世界"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468880"/>
            <a:ext cx="521208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6334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  不只是工具，是激活第二个自己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0906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  产业做物理世界模型，我们做精神世界模型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5478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  让AI成为你的：高参、战友、灵魂伴侣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114800"/>
            <a:ext cx="5212080" cy="201168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498348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A0A0B0"/>
                </a:solidFill>
              </a:rPr>
              <a:t>[ 产品截图占位 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739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  <a:latin typeface="Arial"/>
              </a:rPr>
              <a:t>元神项目 · 融资计划书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1672" y="64739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B0"/>
                </a:solidFill>
                <a:latin typeface="Arial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6C63FF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技术壁垒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5400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3520440" cy="457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3560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0D1A"/>
                </a:solidFill>
                <a:latin typeface="Arial"/>
              </a:rPr>
              <a:t>灵魂壁垒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3520440" cy="3840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C63FF"/>
                </a:solidFill>
                <a:latin typeface="Arial"/>
              </a:rPr>
              <a:t>十年淬炼的四域融合元模型DNA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&gt; 人性洞察 x 商业逻辑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5292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&gt; 哲学思辨 x 修行体证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36976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&gt; 根植亘古不变的底层公理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417320"/>
            <a:ext cx="3520440" cy="457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43560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0D1A"/>
                </a:solidFill>
                <a:latin typeface="Arial"/>
              </a:rPr>
              <a:t>基因胶囊壁垒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874519"/>
            <a:ext cx="3520440" cy="3840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96596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D4AA"/>
                </a:solidFill>
                <a:latin typeface="Arial"/>
              </a:rPr>
              <a:t>经验可封装、可遗传、自进化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46888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&gt; 成功经验封装为「基因胶囊」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85292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&gt; 一个Agent学会，所有Agent继承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236976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&gt; 形成「AI黑洞效应」自强化飞轮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417320"/>
            <a:ext cx="3520440" cy="4572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6448" y="143560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0D1A"/>
                </a:solidFill>
                <a:latin typeface="Arial"/>
              </a:rPr>
              <a:t>Agent Graph生态壁垒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1874519"/>
            <a:ext cx="3520440" cy="3840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196596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0C040"/>
                </a:solidFill>
                <a:latin typeface="Arial"/>
              </a:rPr>
              <a:t>智能体连接图 = 未来商业基础设施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46888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&gt; 成千上万「元神」自发协作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85292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&gt; 用户元神与商家元神自动谈判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3236976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&gt; 规则制定者，而非单纯产品商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739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  <a:latin typeface="Arial"/>
              </a:rPr>
              <a:t>元神项目 · 融资计划书 ·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1672" y="64739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B0"/>
                </a:solidFill>
                <a:latin typeface="Arial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6C63FF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市场机会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5400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2697480" cy="1600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69748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C63FF"/>
                </a:solidFill>
                <a:latin typeface="Arial"/>
              </a:rPr>
              <a:t>$48.4亿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2026年市场规模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41448"/>
            <a:ext cx="2697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0A0B0"/>
                </a:solidFill>
                <a:latin typeface="Arial"/>
              </a:rPr>
              <a:t>美元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417320"/>
            <a:ext cx="2697480" cy="1600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417320"/>
            <a:ext cx="2697480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554480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D4AA"/>
                </a:solidFill>
                <a:latin typeface="Arial"/>
              </a:rPr>
              <a:t>42.2%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148840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年复合增长率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441448"/>
            <a:ext cx="2697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0A0B0"/>
                </a:solidFill>
                <a:latin typeface="Arial"/>
              </a:rPr>
              <a:t>CAGR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2697480" cy="1600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417320"/>
            <a:ext cx="2697480" cy="64008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554480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0C040"/>
                </a:solidFill>
                <a:latin typeface="Arial"/>
              </a:rPr>
              <a:t>$196.3亿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148840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2030年预测规模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441448"/>
            <a:ext cx="2697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0A0B0"/>
                </a:solidFill>
                <a:latin typeface="Arial"/>
              </a:rPr>
              <a:t>美元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1417320"/>
            <a:ext cx="2697480" cy="1600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1417320"/>
            <a:ext cx="269748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554480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C63FF"/>
                </a:solidFill>
                <a:latin typeface="Arial"/>
              </a:rPr>
              <a:t>52%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148840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</a:rPr>
              <a:t>用户愿意使用AI助理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441448"/>
            <a:ext cx="2697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0A0B0"/>
                </a:solidFill>
                <a:latin typeface="Arial"/>
              </a:rPr>
              <a:t>管理日程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089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  <a:latin typeface="Arial"/>
              </a:rPr>
              <a:t>数据来源：IEEE行业调查 · Statista · Goldman Sachs AI Report 2025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56432"/>
            <a:ext cx="11274552" cy="2743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5661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C63FF"/>
                </a:solidFill>
                <a:latin typeface="Arial"/>
              </a:rPr>
              <a:t>为什么是现在？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0050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&gt;  LLM技术成熟  →  理解个体成为可能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0050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&gt;  Agentic AI爆发  →  从工具到自主执行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55371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&gt;  数据主权意识觉醒  →  监管+用户双轮驱动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55371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&gt;  数字身份成刚需  →  元宇宙/Web3前置红利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3566160"/>
            <a:ext cx="4846320" cy="2560320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470916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A0A0B0"/>
                </a:solidFill>
              </a:rPr>
              <a:t>[ 市场趋势图表占位 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739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  <a:latin typeface="Arial"/>
              </a:rPr>
              <a:t>元神项目 · 融资计划书 ·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1672" y="64739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B0"/>
                </a:solidFill>
                <a:latin typeface="Arial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6C63FF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竞争格局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5400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6949440" cy="4846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3619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C63FF"/>
                </a:solidFill>
                <a:latin typeface="Arial"/>
              </a:rPr>
              <a:t>竞争者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53619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C63FF"/>
                </a:solidFill>
                <a:latin typeface="Arial"/>
              </a:rPr>
              <a:t>优势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53619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C63FF"/>
                </a:solidFill>
                <a:latin typeface="Arial"/>
              </a:rPr>
              <a:t>为何不切入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3619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C63FF"/>
                </a:solidFill>
                <a:latin typeface="Arial"/>
              </a:rPr>
              <a:t>威胁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766560" cy="25400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1097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微信/字节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920240"/>
            <a:ext cx="1371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Arial"/>
              </a:rPr>
              <a:t>拥有海量数据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920240"/>
            <a:ext cx="3200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Arial"/>
              </a:rPr>
              <a:t>不做用户主权产品（商业模式冲突）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1005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80360"/>
            <a:ext cx="1097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OpenAI/Google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880360"/>
            <a:ext cx="1371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Arial"/>
              </a:rPr>
              <a:t>通用智能最强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880360"/>
            <a:ext cx="3200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Arial"/>
              </a:rPr>
              <a:t>追求AGI，不深入理解个体细分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80360"/>
            <a:ext cx="1005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40480"/>
            <a:ext cx="1097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World Labs/AMI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840480"/>
            <a:ext cx="1371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Arial"/>
              </a:rPr>
              <a:t>物理世界模型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840480"/>
            <a:ext cx="3200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Arial"/>
              </a:rPr>
              <a:t>专注物理时空，不涉足精神世界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840480"/>
            <a:ext cx="1005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00600"/>
            <a:ext cx="1097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Notion/飞书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800600"/>
            <a:ext cx="1371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Arial"/>
              </a:rPr>
              <a:t>知识管理领先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4800600"/>
            <a:ext cx="32004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Arial"/>
              </a:rPr>
              <a:t>做知识管理，不做个人理解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800600"/>
            <a:ext cx="1005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低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1417320"/>
            <a:ext cx="4114800" cy="4846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0" y="1417320"/>
            <a:ext cx="4114800" cy="43891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143560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0D1A"/>
                </a:solidFill>
                <a:latin typeface="Arial"/>
              </a:rPr>
              <a:t>元神的侧翼战略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20116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+ 不与巨头正面冲突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24871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+ 专注精神世界模型细分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296265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+ 巨头主动忽略的侧翼战场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43814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+ 3-6个月先发窗口期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391363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+ 数据飞轮构建时间壁垒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63840" y="4526280"/>
            <a:ext cx="3749039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66344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0C040"/>
                </a:solidFill>
                <a:latin typeface="Arial"/>
              </a:rPr>
              <a:t>侧翼战场 + 先发优势 + 数据飞轮 = 3年护城河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  <a:latin typeface="Arial"/>
              </a:rPr>
              <a:t>元神项目 · 融资计划书 ·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1672" y="64739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B0"/>
                </a:solidFill>
                <a:latin typeface="Arial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6C63FF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产品路线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5400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3520440" cy="7772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3560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0D1A"/>
                </a:solidFill>
                <a:latin typeface="Arial"/>
              </a:rPr>
              <a:t>第一阶段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0D1A"/>
                </a:solidFill>
                <a:latin typeface="Arial"/>
              </a:rPr>
              <a:t>个人记忆可视化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3520440" cy="3794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304288"/>
            <a:ext cx="1005840" cy="2286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30428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0D1A"/>
                </a:solidFill>
                <a:latin typeface="Arial"/>
              </a:rPr>
              <a:t>2周-1个月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3291840"/>
            <a:ext cx="18288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32504" y="3127248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63FF"/>
                </a:solidFill>
                <a:latin typeface="Arial"/>
              </a:rP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6700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* 接入微信/微博等多平台数据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0906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* 生成人生轨迹可视化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51129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* MVP：情绪曲线 + 关系变化图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1417320"/>
            <a:ext cx="3520440" cy="7772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43560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0D1A"/>
                </a:solidFill>
                <a:latin typeface="Arial"/>
              </a:rPr>
              <a:t>第二阶段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16916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0D1A"/>
                </a:solidFill>
                <a:latin typeface="Arial"/>
              </a:rPr>
              <a:t>个人决策辅助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2194560"/>
            <a:ext cx="3520440" cy="3794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61688" y="2304288"/>
            <a:ext cx="1005840" cy="2286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1688" y="230428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0D1A"/>
                </a:solidFill>
                <a:latin typeface="Arial"/>
              </a:rPr>
              <a:t>3-6个月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3291840"/>
            <a:ext cx="1828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27264" y="3127248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D4AA"/>
                </a:solidFill>
                <a:latin typeface="Arial"/>
              </a:rPr>
              <a:t>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26700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* 理解个人决策逻辑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30906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* 提供个性化参谋建议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351129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* 构建决策因果链图谱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1417320"/>
            <a:ext cx="3520440" cy="77724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1435608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0D1A"/>
                </a:solidFill>
                <a:latin typeface="Arial"/>
              </a:rPr>
              <a:t>第三阶段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16916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0D1A"/>
                </a:solidFill>
                <a:latin typeface="Arial"/>
              </a:rPr>
              <a:t>个人数字孪生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2194560"/>
            <a:ext cx="3520440" cy="3794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56448" y="2304288"/>
            <a:ext cx="1005840" cy="2286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230428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D0D1A"/>
                </a:solidFill>
                <a:latin typeface="Arial"/>
              </a:rPr>
              <a:t>6-12个月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26700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* 可交互可预测的另一个你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30906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* 实时情绪陪伴与引导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6448" y="351129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* 成为真正的「高我」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  <a:latin typeface="Arial"/>
              </a:rPr>
              <a:t>元神项目 · 融资计划书 ·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1672" y="64739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B0"/>
                </a:solidFill>
                <a:latin typeface="Arial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6C63FF"/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团队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5400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029200" cy="4846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02920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C63FF"/>
                </a:solidFill>
                <a:latin typeface="Arial"/>
              </a:rPr>
              <a:t>创始人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708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吴治广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31720"/>
            <a:ext cx="4663440" cy="25400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5059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十年淬炼的四域融合元模型DNA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人性洞察 + 商业逻辑 + 哲学思辨 + 修行体证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4436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9125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核心能力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3814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战略定位：精准侧翼战高手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8503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技术审美：AI + 产品 + 运营全栈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3192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使命驱动：让众生物质丰盈、精神富足、灵魂觉醒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78808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2569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资源积累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7258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元神项目创始人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1947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十年AI与人性研究积累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6636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深度链接创投圈资源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1417320"/>
            <a:ext cx="5943600" cy="4846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60720" y="1417320"/>
            <a:ext cx="5943600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15544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Arial"/>
              </a:rPr>
              <a:t>AI Agent 军团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2057400"/>
            <a:ext cx="64008" cy="7772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16752" y="20574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观一 CPEO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23134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B0"/>
                </a:solidFill>
                <a:latin typeface="Arial"/>
              </a:rPr>
              <a:t>首席项目评估官 + 复利系统架构师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0" y="3200400"/>
            <a:ext cx="64008" cy="7772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16752" y="32004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高我 EasyClaw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16752" y="34564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B0"/>
                </a:solidFill>
                <a:latin typeface="Arial"/>
              </a:rPr>
              <a:t>斯坦福/哈佛 AI Agent 辅助系统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0" y="4343400"/>
            <a:ext cx="64008" cy="77724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16752" y="43434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飞飞虾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6752" y="459943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B0"/>
                </a:solidFill>
                <a:latin typeface="Arial"/>
              </a:rPr>
              <a:t>深夜情绪陪伴与疏导助手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739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  <a:latin typeface="Arial"/>
              </a:rPr>
              <a:t>元神项目 · 融资计划书 ·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1672" y="64739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B0"/>
                </a:solidFill>
                <a:latin typeface="Arial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6C63FF"/>
                </a:solidFill>
                <a:latin typeface="Arial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融资需求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5400"/>
          </a:xfrm>
          <a:prstGeom prst="rect">
            <a:avLst/>
          </a:prstGeom>
          <a:solidFill>
            <a:srgbClr val="3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303520" cy="2743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30352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C63FF"/>
                </a:solidFill>
                <a:latin typeface="Arial"/>
              </a:rPr>
              <a:t>种子轮融资目标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0C040"/>
                </a:solidFill>
                <a:latin typeface="Arial"/>
              </a:rPr>
              <a:t>¥300万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B0"/>
                </a:solidFill>
                <a:latin typeface="Arial"/>
              </a:rPr>
              <a:t>估值：¥2000万（稀释15%）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37560"/>
            <a:ext cx="2743200" cy="2926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C63FF"/>
                </a:solidFill>
                <a:latin typeface="Arial"/>
              </a:rPr>
              <a:t>资金用途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6732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MVP开发  ¥120万  (40%)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86784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  <a:latin typeface="Arial"/>
              </a:rPr>
              <a:t>产品工程 + AI模型调优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939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市场验证  ¥80万  (27%)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98848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  <a:latin typeface="Arial"/>
              </a:rPr>
              <a:t>种子用户获取 + 数据积累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91456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团队扩张  ¥60万  (20%)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1091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  <a:latin typeface="Arial"/>
              </a:rPr>
              <a:t>技术 + 运营关键岗位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0352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运营储备  ¥40万  (13%)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22976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  <a:latin typeface="Arial"/>
              </a:rPr>
              <a:t>日常开销 + 法务合规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1417320"/>
            <a:ext cx="2743200" cy="4846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15087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AA"/>
                </a:solidFill>
                <a:latin typeface="Arial"/>
              </a:rPr>
              <a:t>关键里程碑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1920240"/>
            <a:ext cx="54864" cy="10972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19202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D4AA"/>
                </a:solidFill>
                <a:latin typeface="Arial"/>
              </a:rPr>
              <a:t>3个月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15798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MVP发布 + 种子用户100人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  <a:latin typeface="Arial"/>
              </a:rPr>
              <a:t>已完成初版技术验证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3291840"/>
            <a:ext cx="54864" cy="10972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32918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D4AA"/>
                </a:solidFill>
                <a:latin typeface="Arial"/>
              </a:rPr>
              <a:t>6个月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52958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A轮启动，月活1万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931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  <a:latin typeface="Arial"/>
              </a:rPr>
              <a:t>验证产品市场匹配PMF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20440" y="4663440"/>
            <a:ext cx="54864" cy="10972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46634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D4AA"/>
                </a:solidFill>
                <a:latin typeface="Arial"/>
              </a:rPr>
              <a:t>12个月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90118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A轮关闭，B轮启动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  <a:latin typeface="Arial"/>
              </a:rPr>
              <a:t>月活10万 + 营收模型验证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1417320"/>
            <a:ext cx="5212080" cy="4846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92240" y="1417320"/>
            <a:ext cx="5212080" cy="64008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15544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0C040"/>
                </a:solidFill>
                <a:latin typeface="Arial"/>
              </a:rPr>
              <a:t>联系方式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1920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040"/>
                </a:solidFill>
                <a:latin typeface="Arial"/>
              </a:rPr>
              <a:t>创始人：吴治广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2331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Arial"/>
              </a:rPr>
              <a:t>手机：[待填写]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27432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Arial"/>
              </a:rPr>
              <a:t>邮箱：[待填写]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3154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Arial"/>
              </a:rPr>
              <a:t>微信：[待填写]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3566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Arial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3977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0C040"/>
                </a:solidFill>
                <a:latin typeface="Arial"/>
              </a:rPr>
              <a:t>项目：元神 META SOUL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4389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Arial"/>
              </a:rPr>
              <a:t>官网：[待上线]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4800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0B0"/>
                </a:solidFill>
                <a:latin typeface="Arial"/>
              </a:rPr>
              <a:t>地址：[待填写]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739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  <a:latin typeface="Arial"/>
              </a:rPr>
              <a:t>元神项目 · 融资计划书 ·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91672" y="64739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B0"/>
                </a:solidFill>
                <a:latin typeface="Arial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25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让AI替你干活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6C63FF"/>
                </a:solidFill>
                <a:latin typeface="Arial"/>
              </a:rPr>
              <a:t>你为自己而活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114800"/>
            <a:ext cx="301752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0A0B0"/>
                </a:solidFill>
                <a:latin typeface="Arial"/>
              </a:rPr>
              <a:t>把工作交给AI，把自己还给热爱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0B0"/>
                </a:solidFill>
                <a:latin typeface="Arial"/>
              </a:rPr>
              <a:t>元神项目 META SOUL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4739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B0"/>
                </a:solidFill>
                <a:latin typeface="Arial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