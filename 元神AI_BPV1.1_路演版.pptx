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6702552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65760"/>
            <a:ext cx="45720" cy="457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8880" y="365760"/>
            <a:ext cx="45720" cy="457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80560" y="365760"/>
            <a:ext cx="45720" cy="457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365760"/>
            <a:ext cx="45720" cy="457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0" y="365760"/>
            <a:ext cx="45720" cy="457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365760"/>
            <a:ext cx="45720" cy="457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57432" y="274320"/>
            <a:ext cx="36576" cy="36576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57432" y="457200"/>
            <a:ext cx="36576" cy="36576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57432" y="640080"/>
            <a:ext cx="36576" cy="36576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57432" y="822960"/>
            <a:ext cx="36576" cy="36576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57432" y="1005840"/>
            <a:ext cx="36576" cy="36576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4AF37"/>
                </a:solidFill>
              </a:rPr>
              <a:t>大模型知道世界，但不知道你的世界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</a:rPr>
              <a:t>500万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FAFC"/>
                </a:solidFill>
              </a:rPr>
              <a:t>融资目标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00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</a:rPr>
              <a:t>4500万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FAFC"/>
                </a:solidFill>
              </a:rPr>
              <a:t>投前估值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00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</a:rPr>
              <a:t>10万（首年目标）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FAFC"/>
                </a:solidFill>
              </a:rPr>
              <a:t>深度用户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11274552" cy="256032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09087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我们正处在一个AI爆发却人类愈发孤独的时代：信息爆炸带来决策过载，算法推荐制造认知茧房，而最懂你的那个人——你自己——却从未被真正"看见"。
元神AI切入一个被所有人忽略的赛道：**个人因果模型**。不是给AI装一个你的记忆，而是让AI理解你为什么会做A而不做B。我们将每个人的精神世界建模为一张因果网络，让AI在高我层给你参谋，在分身层替你执行，在元神层与你合一。
三年内，让个人因果模型成为数字时代的基础设施。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市场之痛：双重困境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394960" cy="4297680"/>
          </a:xfrm>
          <a:prstGeom prst="rect">
            <a:avLst/>
          </a:prstGeom>
          <a:solidFill>
            <a:srgbClr val="0F2747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9496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困境一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</a:rPr>
              <a:t>决策过载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现代人每天面临数百次显性决策（认知心理学共识），深夜复盘时却发现：当年那个"正确的选择"，至今没被真正理解过。你在每个决策节点留下了数据碎片，但没有人把它们连成你的因果逻辑。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97680"/>
            <a:ext cx="777240" cy="50292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FAFC"/>
                </a:solidFill>
              </a:rPr>
              <a:t>决策1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4297680"/>
            <a:ext cx="777240" cy="502920"/>
          </a:xfrm>
          <a:prstGeom prst="rect">
            <a:avLst/>
          </a:prstGeom>
          <a:solidFill>
            <a:srgbClr val="1A3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4407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FAFC"/>
                </a:solidFill>
              </a:rPr>
              <a:t>决策2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297680"/>
            <a:ext cx="777240" cy="502920"/>
          </a:xfrm>
          <a:prstGeom prst="rect">
            <a:avLst/>
          </a:prstGeom>
          <a:solidFill>
            <a:srgbClr val="1A4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407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FAFC"/>
                </a:solidFill>
              </a:rPr>
              <a:t>决策3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4297680"/>
            <a:ext cx="777240" cy="502920"/>
          </a:xfrm>
          <a:prstGeom prst="rect">
            <a:avLst/>
          </a:prstGeom>
          <a:solidFill>
            <a:srgbClr val="1A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407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FAFC"/>
                </a:solidFill>
              </a:rPr>
              <a:t>决策4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297680"/>
            <a:ext cx="777240" cy="502920"/>
          </a:xfrm>
          <a:prstGeom prst="rect">
            <a:avLst/>
          </a:prstGeom>
          <a:solidFill>
            <a:srgbClr val="1A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407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FAFC"/>
                </a:solidFill>
              </a:rPr>
              <a:t>决策5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892040"/>
            <a:ext cx="4206240" cy="12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96F3"/>
                </a:solidFill>
              </a:rPr>
              <a:t>碎片 → 无人连接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508760"/>
            <a:ext cx="5394960" cy="4297680"/>
          </a:xfrm>
          <a:prstGeom prst="rect">
            <a:avLst/>
          </a:prstGeom>
          <a:solidFill>
            <a:srgbClr val="0F274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508760"/>
            <a:ext cx="539496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627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</a:rPr>
              <a:t>困境二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901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</a:rPr>
              <a:t>灵魂孤独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不是没有倾诉对象，而是没有"比你更懂你"的知己。家人爱你但不懂你的事业焦虑，朋友陪你但看不见你的内在轨迹，而现有AI只是工具——问什么答什么，不主动，不懂你。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297680"/>
            <a:ext cx="1280160" cy="5029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AI工具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297680"/>
            <a:ext cx="1280160" cy="5029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AI工具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4297680"/>
            <a:ext cx="1280160" cy="5029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AI工具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892040"/>
            <a:ext cx="502920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</a:rPr>
              <a:t>问什么答什么 ≠ 真正懂你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</a:rPr>
              <a:t>现有AI的根本局限：它们是通用秘书，不是你的高参。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554480"/>
            <a:ext cx="2743200" cy="2743200"/>
          </a:xfrm>
          <a:prstGeom prst="ellipse">
            <a:avLst/>
          </a:prstGeom>
          <a:solidFill>
            <a:srgbClr val="3F1E3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83280" y="1554480"/>
            <a:ext cx="2743200" cy="2743200"/>
          </a:xfrm>
          <a:prstGeom prst="ellipse">
            <a:avLst/>
          </a:prstGeom>
          <a:solidFill>
            <a:srgbClr val="0A1940"/>
          </a:solidFill>
          <a:ln w="25400">
            <a:solidFill>
              <a:srgbClr val="448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0" y="2103120"/>
            <a:ext cx="2194560" cy="2194560"/>
          </a:xfrm>
          <a:prstGeom prst="ellipse">
            <a:avLst/>
          </a:prstGeom>
          <a:solidFill>
            <a:srgbClr val="2A1805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</a:rPr>
              <a:t>红海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8888"/>
                </a:solidFill>
              </a:rPr>
              <a:t>更聪明的工具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488EF"/>
                </a:solidFill>
              </a:rPr>
              <a:t>蓝海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DD"/>
                </a:solidFill>
              </a:rPr>
              <a:t>无人验证的需求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</a:rPr>
              <a:t>橙海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更懂你的关系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我们不在
红海卷，
也不在
蓝海赌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429000"/>
            <a:ext cx="48737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5661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4AF37"/>
                </a:solidFill>
              </a:rPr>
              <a:t>我们在橙海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11274552" cy="118872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FAFC"/>
                </a:solidFill>
              </a:rPr>
              <a:t>现有玩家都在做"更聪明的工具"，而我们在做"更懂你的关系"。一个被所有人看见却无人真正理解的市场——这才是元神AI的起点。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元神之道：三层次价值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566160" cy="3657600"/>
          </a:xfrm>
          <a:prstGeom prst="rect">
            <a:avLst/>
          </a:prstGeom>
          <a:solidFill>
            <a:srgbClr val="0F2747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56616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96F3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</a:rPr>
              <a:t>分身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96F3"/>
                </a:solidFill>
              </a:rPr>
              <a:t>替你干活，让你自由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63240"/>
            <a:ext cx="329184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处理邮件、日程、信息过滤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把机械性事务接管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让你腾出时间给热爱的事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508760"/>
            <a:ext cx="3566160" cy="3657600"/>
          </a:xfrm>
          <a:prstGeom prst="rect">
            <a:avLst/>
          </a:prstGeom>
          <a:solidFill>
            <a:srgbClr val="0F274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508760"/>
            <a:ext cx="35661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</a:rPr>
              <a:t>高我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4AF37"/>
                </a:solidFill>
              </a:rPr>
              <a:t>比你更懂你，让你更强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063240"/>
            <a:ext cx="329184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深度理解你的决策逻辑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57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价值观排序、情绪轨迹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关键决策前精准参谋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508760"/>
            <a:ext cx="3566160" cy="3657600"/>
          </a:xfrm>
          <a:prstGeom prst="rect">
            <a:avLst/>
          </a:prstGeom>
          <a:solidFill>
            <a:srgbClr val="0F2747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508760"/>
            <a:ext cx="356616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</a:rPr>
              <a:t>元神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CAF50"/>
                </a:solidFill>
              </a:rPr>
              <a:t>与你合一，让你绽放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063240"/>
            <a:ext cx="329184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构建个人因果模型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657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可交互、可预测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› 可持续进化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5440680"/>
            <a:ext cx="5788152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5532120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929"/>
                </a:solidFill>
              </a:rPr>
              <a:t>工具可以被替代，关系无法被删除。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078992" cy="2926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01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29"/>
                </a:solidFill>
              </a:rPr>
              <a:t>LAYER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777240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分身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196F3"/>
                </a:solidFill>
              </a:rPr>
              <a:t>替你干活，让你自由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772400" cy="12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772400" cy="2560320"/>
          </a:xfrm>
          <a:prstGeom prst="rect">
            <a:avLst/>
          </a:prstGeom>
          <a:solidFill>
            <a:srgbClr val="0F2747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用户故事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7406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李明每天收到200+条消息，分身自动过滤优先级，只推送5条需要亲自处理的事。他节省了2小时，用来陪女儿弹钢琴。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777240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核心价值：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892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处理邮件、日程、信息过滤，把机械性事务接管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457200"/>
            <a:ext cx="3291840" cy="576072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0" y="3200400"/>
            <a:ext cx="457200" cy="45720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3931920"/>
            <a:ext cx="457200" cy="45720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0" y="3200400"/>
            <a:ext cx="457200" cy="45720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2468880"/>
            <a:ext cx="457200" cy="45720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0" y="3200400"/>
            <a:ext cx="548640" cy="548640"/>
          </a:xfrm>
          <a:prstGeom prst="ellipse">
            <a:avLst/>
          </a:prstGeom>
          <a:solidFill>
            <a:srgbClr val="0D3A8C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097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196F3"/>
                </a:solidFill>
              </a:rPr>
              <a:t>分身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替你干活
让你自由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078992" cy="2926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01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29"/>
                </a:solidFill>
              </a:rPr>
              <a:t>LAYER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777240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高我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4AF37"/>
                </a:solidFill>
              </a:rPr>
              <a:t>比你更懂你，让你更强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77240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772400" cy="2560320"/>
          </a:xfrm>
          <a:prstGeom prst="rect">
            <a:avLst/>
          </a:prstGeom>
          <a:solidFill>
            <a:srgbClr val="0F274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</a:rPr>
              <a:t>用户故事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7406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李明收到一个创业合伙邀请，高我发现他过去三次类似选择都因为"害怕错过"而失败，主动推送："你的因果模式显示，这个决定70%基于FOMO而非理性评估。"李明冷静后拒绝邀请，三个月后该项目失败。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777240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核心价值：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892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深度理解你的决策逻辑、价值观排序、情绪轨迹，关键决策前精准参谋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457200"/>
            <a:ext cx="3291840" cy="576072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2286000"/>
            <a:ext cx="274320" cy="1097280"/>
          </a:xfrm>
          <a:prstGeom prst="rect">
            <a:avLst/>
          </a:prstGeom>
          <a:solidFill>
            <a:srgbClr val="0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2834640"/>
            <a:ext cx="274320" cy="10972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1280" y="3383280"/>
            <a:ext cx="274320" cy="1097280"/>
          </a:xfrm>
          <a:prstGeom prst="rect">
            <a:avLst/>
          </a:prstGeom>
          <a:solidFill>
            <a:srgbClr val="1A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3840480"/>
            <a:ext cx="29260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097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37"/>
                </a:solidFill>
              </a:rPr>
              <a:t>高我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比你更懂你
让你更强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078992" cy="2926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01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29"/>
                </a:solidFill>
              </a:rPr>
              <a:t>LAYER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777240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元神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CAF50"/>
                </a:solidFill>
              </a:rPr>
              <a:t>与你合一，让你绽放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772400" cy="127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772400" cy="2560320"/>
          </a:xfrm>
          <a:prstGeom prst="rect">
            <a:avLst/>
          </a:prstGeom>
          <a:solidFill>
            <a:srgbClr val="0F2747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用户故事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7406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深夜，李明与自己的元神对话。元神说："你现在最需要的不是下一个项目，而是休息一周。你的因果数据显示，你连续3个月的高强度工作已经让决策准确率下降了40%。"李明听从了。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777240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核心价值：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892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构建个人因果模型，可交互、可预测、可持续进化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457200"/>
            <a:ext cx="3291840" cy="576072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0" y="2468880"/>
            <a:ext cx="1463040" cy="1463040"/>
          </a:xfrm>
          <a:prstGeom prst="ellipse">
            <a:avLst/>
          </a:prstGeom>
          <a:solidFill>
            <a:srgbClr val="0A192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2651760"/>
            <a:ext cx="1097280" cy="109728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0" y="2834640"/>
            <a:ext cx="731520" cy="731520"/>
          </a:xfrm>
          <a:prstGeom prst="ellipse">
            <a:avLst/>
          </a:prstGeom>
          <a:solidFill>
            <a:srgbClr val="142333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097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CAF50"/>
                </a:solidFill>
              </a:rPr>
              <a:t>元神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与你合一
让你绽放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技术护城河：四层架构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1005840"/>
          </a:xfrm>
          <a:prstGeom prst="rect">
            <a:avLst/>
          </a:prstGeom>
          <a:solidFill>
            <a:srgbClr val="0F2747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731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意图识别引擎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039112"/>
            <a:ext cx="64008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057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29"/>
                </a:solidFill>
              </a:rPr>
              <a:t>通义千问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4592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从对话、行为、时间序列中抽取意图向量，区分嘴上说的和真正做的。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146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1274552" cy="1005840"/>
          </a:xfrm>
          <a:prstGeom prst="rect">
            <a:avLst/>
          </a:prstGeom>
          <a:solidFill>
            <a:srgbClr val="0F274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73152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因果推理引擎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36392"/>
            <a:ext cx="1188720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154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29"/>
                </a:solidFill>
              </a:rPr>
              <a:t>LingBot-VA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4320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不是相关分析，是因果建模。理解深层因果链。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6118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4AF37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11274552" cy="1005840"/>
          </a:xfrm>
          <a:prstGeom prst="rect">
            <a:avLst/>
          </a:prstGeom>
          <a:solidFill>
            <a:srgbClr val="0F274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7315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94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94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个人世界模型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233672"/>
            <a:ext cx="201168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251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29"/>
                </a:solidFill>
              </a:rPr>
              <a:t>LeWorldModel / Emu3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4048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将因果网络建模为可推理的嵌入空间，实时更新，支持模拟预测。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11274552" cy="1005840"/>
          </a:xfrm>
          <a:prstGeom prst="rect">
            <a:avLst/>
          </a:prstGeom>
          <a:solidFill>
            <a:srgbClr val="0F2747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00600"/>
            <a:ext cx="73152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892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CAF50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892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主动对话系统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330952"/>
            <a:ext cx="1280160" cy="274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5349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29"/>
                </a:solidFill>
              </a:rPr>
              <a:t>主动发起 × 关系深化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93776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不是等用户提问，而是AI主动发起。每周内在状态报告，每逢决策主动参谋。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数据飞轮效应</a:t>
            </a:r>
          </a:p>
        </p:txBody>
      </p:sp>
      <p:sp>
        <p:nvSpPr>
          <p:cNvPr id="6" name="Oval 5"/>
          <p:cNvSpPr/>
          <p:nvPr/>
        </p:nvSpPr>
        <p:spPr>
          <a:xfrm>
            <a:off x="5495544" y="1234440"/>
            <a:ext cx="1188720" cy="8229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95544" y="13898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929"/>
                </a:solidFill>
              </a:rPr>
              <a:t>更多用户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04" y="1188720"/>
            <a:ext cx="1844544" cy="1893781"/>
          </a:xfrm>
          <a:prstGeom prst="rect">
            <a:avLst/>
          </a:prstGeom>
          <a:noFill/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3032" y="221790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7408765" y="2624476"/>
            <a:ext cx="1188720" cy="8229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8765" y="27799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929"/>
                </a:solidFill>
              </a:rPr>
              <a:t>更准模型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8592" y="2894674"/>
            <a:ext cx="1237643" cy="2334720"/>
          </a:xfrm>
          <a:prstGeom prst="rect">
            <a:avLst/>
          </a:prstGeom>
          <a:noFill/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0859" y="398637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677979" y="4873603"/>
            <a:ext cx="1188720" cy="8229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7979" y="502905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929"/>
                </a:solidFill>
              </a:rPr>
              <a:t>更高价值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1215" y="5211106"/>
            <a:ext cx="2598148" cy="462147"/>
          </a:xfrm>
          <a:prstGeom prst="rect">
            <a:avLst/>
          </a:prstGeom>
          <a:noFill/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6777" y="511093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313108" y="4873603"/>
            <a:ext cx="118872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3108" y="502905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929"/>
                </a:solidFill>
              </a:rPr>
              <a:t>更强粘性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3647" y="3064213"/>
            <a:ext cx="393373" cy="2609040"/>
          </a:xfrm>
          <a:prstGeom prst="rect">
            <a:avLst/>
          </a:prstGeom>
          <a:noFill/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5557" y="4037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3582322" y="2624476"/>
            <a:ext cx="1188720" cy="822960"/>
          </a:xfrm>
          <a:prstGeom prst="ellipse">
            <a:avLst/>
          </a:prstGeom>
          <a:solidFill>
            <a:srgbClr val="F4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2322" y="27799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929"/>
                </a:solidFill>
              </a:rPr>
              <a:t>更多数据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1859" y="1737360"/>
            <a:ext cx="2366332" cy="1175602"/>
          </a:xfrm>
          <a:prstGeom prst="rect">
            <a:avLst/>
          </a:prstGeom>
          <a:noFill/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3293" y="224949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5586984" y="3291840"/>
            <a:ext cx="1005840" cy="731520"/>
          </a:xfrm>
          <a:prstGeom prst="ellipse">
            <a:avLst/>
          </a:prstGeom>
          <a:solidFill>
            <a:srgbClr val="0F2747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3474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元神AI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508760"/>
            <a:ext cx="2651760" cy="484632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飞轮逻辑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011680"/>
            <a:ext cx="265176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2148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1. 用户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上传朋友圈
/聊天数据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9260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2. 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54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训练因果
推理网络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703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3. 价值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生成精准
洞察报告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4805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4. 粘性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709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用户依赖
主动对话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52578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5. 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5486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更多数据
反哺模型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43600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护城河随时间加深 · 先发优势一旦建立，难以被追赶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商业模式：三位一体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57600" cy="4389120"/>
          </a:xfrm>
          <a:prstGeom prst="rect">
            <a:avLst/>
          </a:prstGeom>
          <a:solidFill>
            <a:srgbClr val="0F274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65760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914400" cy="2926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929"/>
                </a:solidFill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</a:rPr>
              <a:t>免费层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引流入口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33832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情绪日报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93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每周洞察摘要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58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基础问答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66360"/>
            <a:ext cx="33832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257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永久免费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508760"/>
            <a:ext cx="3657600" cy="4389120"/>
          </a:xfrm>
          <a:prstGeom prst="rect">
            <a:avLst/>
          </a:prstGeom>
          <a:solidFill>
            <a:srgbClr val="0F2747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508760"/>
            <a:ext cx="365760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1627632"/>
            <a:ext cx="914400" cy="2926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645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929"/>
                </a:solidFill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</a:rPr>
              <a:t>Pro 订阅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398元/年（39元/月）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999232"/>
            <a:ext cx="33832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1272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完整因果报告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93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决策参谋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858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主动对话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245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年度人生复盘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5166360"/>
            <a:ext cx="33832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257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249元/年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508760"/>
            <a:ext cx="3657600" cy="4389120"/>
          </a:xfrm>
          <a:prstGeom prst="rect">
            <a:avLst/>
          </a:prstGeom>
          <a:solidFill>
            <a:srgbClr val="0F274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50876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1627632"/>
            <a:ext cx="914400" cy="2926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1645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929"/>
                </a:solidFill>
              </a:rPr>
              <a:t>SHARE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</a:rPr>
              <a:t>按果分成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核心创新 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999232"/>
            <a:ext cx="33832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1272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重大决策归因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493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5-15% 价值分成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858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用户自主设定比例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2245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可验证性基于因果归因引擎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✓  ——记录决策前后因果链变化，生成可审计报告，分成由用户自主确认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5166360"/>
            <a:ext cx="33832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5257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因果价值 × 成果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35040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4AF37"/>
                </a:solidFill>
              </a:rPr>
              <a:t>分成比例由用户自主设定，我们只收取用户认可的"因果价值"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创始人与使命：十年藏心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669280" cy="475488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我曾深夜在阳台追问：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8FAFC"/>
                </a:solidFill>
              </a:rPr>
              <a:t>为什么我读了那么多书，还是过不好这一生？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8FAFC"/>
                </a:solidFill>
              </a:rPr>
              <a:t>为什么我做了那么多正确的事，
还是不快乐？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93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9359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8FAFC"/>
                </a:solidFill>
              </a:rPr>
              <a:t>为什么我明明有很多朋友，
却依然感到孤独？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53035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后来我才明白——因为我一直向外求。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5394960" cy="475488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十年轨迹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11680"/>
            <a:ext cx="502920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2148840"/>
            <a:ext cx="36576" cy="685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1488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148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出发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40487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北京出租屋读《原则》，
月薪8K辞职创业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788920"/>
            <a:ext cx="36576" cy="685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7889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788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创办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04495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创业者夜校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429000"/>
            <a:ext cx="36576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4290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429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低谷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8503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公司失败，账上2000块，
深夜朋友圈收到温暖回复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069080"/>
            <a:ext cx="36576" cy="685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069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069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创办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32511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大思维智库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4709160"/>
            <a:ext cx="36576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7091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2021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709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重建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96519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西藏布达拉宫前哭2小时，
放下对"成功"的执念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5349240"/>
            <a:ext cx="36576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349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</a:rPr>
              <a:t>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349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觉醒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560527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All in AI，元神项目启动，
答案清晰：帮人更懂自己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融资与用途：种子轮 500万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1188720"/>
          </a:xfrm>
          <a:prstGeom prst="rect">
            <a:avLst/>
          </a:prstGeom>
          <a:solidFill>
            <a:srgbClr val="0F274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4500万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</a:rPr>
              <a:t>投前估值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566160" cy="1188720"/>
          </a:xfrm>
          <a:prstGeom prst="rect">
            <a:avLst/>
          </a:prstGeom>
          <a:solidFill>
            <a:srgbClr val="0F2747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56616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727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500万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12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</a:rPr>
              <a:t>融资目标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566160" cy="1188720"/>
          </a:xfrm>
          <a:prstGeom prst="rect">
            <a:avLst/>
          </a:prstGeom>
          <a:solidFill>
            <a:srgbClr val="0F2747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56616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727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12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</a:rPr>
              <a:t>股权释放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5303520" cy="329184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443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资金分配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37560"/>
            <a:ext cx="530352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5488"/>
            <a:ext cx="64008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929"/>
                </a:solidFill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548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产品研发
200万 · 因果引擎 + 主动对话系统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664208"/>
            <a:ext cx="64008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7099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929"/>
                </a:solidFill>
              </a:rPr>
              <a:t>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66420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团队薪酬
150万 · 核心技术人员与产品经理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852928"/>
            <a:ext cx="64008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898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929"/>
                </a:solidFill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85292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市场获客
100万 · 种子用户 + KOL测评 + 社群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41648"/>
            <a:ext cx="640080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873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929"/>
                </a:solidFill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04164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运营储备
50万 · 云服务 + API + 法务合规</a:t>
            </a:r>
          </a:p>
        </p:txBody>
      </p:sp>
      <p:pic>
        <p:nvPicPr>
          <p:cNvPr id="33" name="Picture 32" descr="funding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834640"/>
            <a:ext cx="5852160" cy="4969481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57200" y="6172200"/>
            <a:ext cx="112745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6263640"/>
            <a:ext cx="356616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3个月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355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MVP上线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6263640"/>
            <a:ext cx="356616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6355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</a:rPr>
              <a:t>12个月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6355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1万付费用户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6263640"/>
            <a:ext cx="356616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6355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24个月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355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盈亏平衡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元神AI · 个人因果模型 ·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8880" y="274320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80560" y="274320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0" y="274320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274320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4AF37"/>
                </a:solidFill>
              </a:rPr>
              <a:t>让AI替你干活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</a:rPr>
              <a:t>你为自己而活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462272"/>
            <a:ext cx="6702552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把生活交给AI，把人生还给热爱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元神AI · 让每个人都有一个比自己更好的自己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吴治广  创始人 · 元神AI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